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32EE95-5A9D-DB45-AAE8-EFDCDE8F1AAF}" type="datetimeFigureOut">
              <a:rPr lang="en-US" smtClean="0"/>
              <a:t>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C8F7AA-2644-344B-9499-A543585936DD}" type="slidenum">
              <a:rPr lang="en-US" smtClean="0"/>
              <a:t>‹#›</a:t>
            </a:fld>
            <a:endParaRPr lang="en-US"/>
          </a:p>
        </p:txBody>
      </p:sp>
    </p:spTree>
    <p:extLst>
      <p:ext uri="{BB962C8B-B14F-4D97-AF65-F5344CB8AC3E}">
        <p14:creationId xmlns:p14="http://schemas.microsoft.com/office/powerpoint/2010/main" val="4182931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nph.onlinelibrary.wiley.com/doi/10.1111/nph.18586#support-information-section"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Trait–climate relationships are typically weak. Histogram of </a:t>
            </a:r>
            <a:r>
              <a:rPr lang="en-US" sz="1200" b="0" i="1" kern="1200" dirty="0">
                <a:solidFill>
                  <a:schemeClr val="tx1"/>
                </a:solidFill>
                <a:effectLst/>
                <a:latin typeface="+mn-lt"/>
                <a:ea typeface="+mn-ea"/>
                <a:cs typeface="+mn-cs"/>
              </a:rPr>
              <a:t>R</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values (or marginal </a:t>
            </a:r>
            <a:r>
              <a:rPr lang="en-US" sz="1200" b="0" i="1" kern="1200" dirty="0">
                <a:solidFill>
                  <a:schemeClr val="tx1"/>
                </a:solidFill>
                <a:effectLst/>
                <a:latin typeface="+mn-lt"/>
                <a:ea typeface="+mn-ea"/>
                <a:cs typeface="+mn-cs"/>
              </a:rPr>
              <a:t>R</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for models with random effects) from studies that investigated global trait–environment relationships using compiled trait databases and climate from the site of trait observations and that reported goodness-of-fit statistics for climate or soil predictors. Data and associated citations are in Supporting Information Table </a:t>
            </a:r>
            <a:r>
              <a:rPr lang="en-US" sz="1200" b="1" i="0" u="none" strike="noStrike" kern="1200" dirty="0">
                <a:solidFill>
                  <a:schemeClr val="tx1"/>
                </a:solidFill>
                <a:effectLst/>
                <a:latin typeface="+mn-lt"/>
                <a:ea typeface="+mn-ea"/>
                <a:cs typeface="+mn-cs"/>
                <a:hlinkClick r:id="rId3"/>
              </a:rPr>
              <a:t>S1</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A3C8F7AA-2644-344B-9499-A543585936DD}" type="slidenum">
              <a:rPr lang="en-US" smtClean="0"/>
              <a:t>2</a:t>
            </a:fld>
            <a:endParaRPr lang="en-US"/>
          </a:p>
        </p:txBody>
      </p:sp>
    </p:spTree>
    <p:extLst>
      <p:ext uri="{BB962C8B-B14F-4D97-AF65-F5344CB8AC3E}">
        <p14:creationId xmlns:p14="http://schemas.microsoft.com/office/powerpoint/2010/main" val="184496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Combination of processes at different evolutionary and ecological scales can drastically complicate trait–environment patterns (a) Different evolutionary and ecological processes drive trait changes across scales. Most phylogenetically naïve trait–climate analyses that use site-of-measurement climate values haphazardly and likely nonrandomly sample these various ecological and evolutionary processes. (b) Trait variation within individual species (dark lines) vs among species of a lineage (lighter lines). Differences in evolutionary history and life-history strategies lead to a large trait offset between the two lineages, but the among-species trait–climate relationship is consistent within each lineage. (c) A classic trait study that compiles observations from two different sites (Sites A and B, gray boxes) would find a nonsignificant trait–environment relationship due to the haphazard combination of within-species, within-linage, and among-lineage trait variation. (d) Weighting the same species by their abundance to create ‘community-weighted mean’ (CWM) trait values reveals yet a different trait–environment relationship, largely driven in this case by changes in abundance between the two lineages.</a:t>
            </a:r>
            <a:endParaRPr lang="en-US" dirty="0"/>
          </a:p>
        </p:txBody>
      </p:sp>
      <p:sp>
        <p:nvSpPr>
          <p:cNvPr id="4" name="Slide Number Placeholder 3"/>
          <p:cNvSpPr>
            <a:spLocks noGrp="1"/>
          </p:cNvSpPr>
          <p:nvPr>
            <p:ph type="sldNum" sz="quarter" idx="5"/>
          </p:nvPr>
        </p:nvSpPr>
        <p:spPr/>
        <p:txBody>
          <a:bodyPr/>
          <a:lstStyle/>
          <a:p>
            <a:fld id="{A3C8F7AA-2644-344B-9499-A543585936DD}" type="slidenum">
              <a:rPr lang="en-US" smtClean="0"/>
              <a:t>3</a:t>
            </a:fld>
            <a:endParaRPr lang="en-US"/>
          </a:p>
        </p:txBody>
      </p:sp>
    </p:spTree>
    <p:extLst>
      <p:ext uri="{BB962C8B-B14F-4D97-AF65-F5344CB8AC3E}">
        <p14:creationId xmlns:p14="http://schemas.microsoft.com/office/powerpoint/2010/main" val="3309407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Combination of processes at different evolutionary and ecological scales can drastically complicate trait–environment patterns (a) Different evolutionary and ecological processes drive trait changes across scales. Most phylogenetically naïve trait–climate analyses that use site-of-measurement climate values haphazardly and likely nonrandomly sample these various ecological and evolutionary processes. (b) Trait variation within individual species (dark lines) vs among species of a lineage (lighter lines). Differences in evolutionary history and life-history strategies lead to a large trait offset between the two lineages, but the among-species trait–climate relationship is consistent within each lineage. (c) A classic trait study that compiles observations from two different sites (Sites A and B, gray boxes) would find a nonsignificant trait–environment relationship due to the haphazard combination of within-species, within-linage, and among-lineage trait variation. (d) Weighting the same species by their abundance to create ‘community-weighted mean’ (CWM) trait values reveals yet a different trait–environment relationship, largely driven in this case by changes in abundance between the two lineages.</a:t>
            </a:r>
            <a:endParaRPr lang="en-US" dirty="0"/>
          </a:p>
        </p:txBody>
      </p:sp>
      <p:sp>
        <p:nvSpPr>
          <p:cNvPr id="4" name="Slide Number Placeholder 3"/>
          <p:cNvSpPr>
            <a:spLocks noGrp="1"/>
          </p:cNvSpPr>
          <p:nvPr>
            <p:ph type="sldNum" sz="quarter" idx="5"/>
          </p:nvPr>
        </p:nvSpPr>
        <p:spPr/>
        <p:txBody>
          <a:bodyPr/>
          <a:lstStyle/>
          <a:p>
            <a:fld id="{A3C8F7AA-2644-344B-9499-A543585936DD}" type="slidenum">
              <a:rPr lang="en-US" smtClean="0"/>
              <a:t>4</a:t>
            </a:fld>
            <a:endParaRPr lang="en-US"/>
          </a:p>
        </p:txBody>
      </p:sp>
    </p:spTree>
    <p:extLst>
      <p:ext uri="{BB962C8B-B14F-4D97-AF65-F5344CB8AC3E}">
        <p14:creationId xmlns:p14="http://schemas.microsoft.com/office/powerpoint/2010/main" val="1668723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A47CB-9841-C13A-47FD-ABC1F86D8A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DAAF66-B1A6-49F8-4C88-EFAEEBC516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96E5A2-5AE4-7A37-33E2-683AE1B71ABC}"/>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D1EEA372-AD44-8FE5-37A3-5C98843667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91B22-7308-D322-82FC-ABF48369D731}"/>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82165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197F-B9DB-DD7B-A579-805AE74FB2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EEE064-3CEF-90DD-9671-0A999CF69F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3E2DC-65EC-7B26-4E7D-7FAB27CFFE28}"/>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D1F0D611-3C9F-0FBC-D899-D69921C01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CBA322-6F5A-FC3B-8398-AA6811764C95}"/>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368107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04E1A-F0B0-DF5A-5503-A388683850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F6B568-4AAE-E807-E8E7-26FAB4998A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72907E-FD1A-46DF-DAB7-8C1FE9B404D9}"/>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D431E236-57FC-32D6-8142-8506A9EF3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7E3DDF-6F4F-2159-1B14-A910AD448F7D}"/>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44611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04B4-4140-F4C7-0B75-ADE76217BB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7AFC46-B3FA-25EA-0316-763860C3C3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FB88A0-1BFE-307D-C981-60B8313DEB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C4413F-FBF0-2A1F-887A-384DF6B13FD4}"/>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6" name="Footer Placeholder 5">
            <a:extLst>
              <a:ext uri="{FF2B5EF4-FFF2-40B4-BE49-F238E27FC236}">
                <a16:creationId xmlns:a16="http://schemas.microsoft.com/office/drawing/2014/main" id="{CEEC0666-069E-5F41-239E-5FF6AA020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D96768-244E-CBBE-93B6-E41A1F53B53E}"/>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307909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52ADC-9A1A-F14C-797F-DA20BF642F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FAA375-2F49-C8D2-2B05-409189BC03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34C841-DCBE-69C6-1319-40703F9961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222FE-678D-878B-C424-18DBA17601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EDFF0F-8D41-1D22-C5F4-B49A6B650C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C3BAD7-229F-728C-18F3-79129257FE40}"/>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8" name="Footer Placeholder 7">
            <a:extLst>
              <a:ext uri="{FF2B5EF4-FFF2-40B4-BE49-F238E27FC236}">
                <a16:creationId xmlns:a16="http://schemas.microsoft.com/office/drawing/2014/main" id="{BB04F429-007F-2117-B850-5BB6FC2293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CDF377-90CA-310C-FDE8-4F080A1E6F60}"/>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71851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8D43E-0A9C-3C47-97CF-1289A3EB17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D1158D-66B1-A3E8-0AA0-11D8B8847F9E}"/>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4" name="Footer Placeholder 3">
            <a:extLst>
              <a:ext uri="{FF2B5EF4-FFF2-40B4-BE49-F238E27FC236}">
                <a16:creationId xmlns:a16="http://schemas.microsoft.com/office/drawing/2014/main" id="{064810CF-81F6-CBB8-CDF1-5826FB94DB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6A6112-7D16-D3BA-108A-8DED083F23CA}"/>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3727993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00B7EE-59AD-3DC3-3EA8-0CE61A32D38D}"/>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3" name="Footer Placeholder 2">
            <a:extLst>
              <a:ext uri="{FF2B5EF4-FFF2-40B4-BE49-F238E27FC236}">
                <a16:creationId xmlns:a16="http://schemas.microsoft.com/office/drawing/2014/main" id="{6D4F0635-A6EC-9839-CAA2-A9212E4C70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72EC13-C820-4D29-B26D-A70B54BEB02B}"/>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2884133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E298B-DABA-D7C4-5A3A-DEED6316DB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33242-1014-4B34-8A75-1407E1076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03AE25-B8B7-4F42-68B6-C7E238143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D1A71F-84CE-4A84-AEAA-65D31F319996}"/>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6" name="Footer Placeholder 5">
            <a:extLst>
              <a:ext uri="{FF2B5EF4-FFF2-40B4-BE49-F238E27FC236}">
                <a16:creationId xmlns:a16="http://schemas.microsoft.com/office/drawing/2014/main" id="{CF762036-9BC1-73DC-E149-98B098105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9643C9-29FF-F749-9CBB-4CDDBCED7B68}"/>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634880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F68A9-858B-8088-599A-1D8D30C6E0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11E69F-F4FF-2F28-4E62-173F5DF67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0E7EE6-7938-4031-B762-E7FC7A0BC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383072-4594-2744-4A24-1ECC1027AC98}"/>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6" name="Footer Placeholder 5">
            <a:extLst>
              <a:ext uri="{FF2B5EF4-FFF2-40B4-BE49-F238E27FC236}">
                <a16:creationId xmlns:a16="http://schemas.microsoft.com/office/drawing/2014/main" id="{AE99BBBA-1BAE-FACB-6745-88D0713F39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8A0BB-BE95-ACAE-DA7B-0EC9F2465DC3}"/>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39832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D6CF-6A43-D729-9B83-57692F0A4E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4B7E5A-E61D-49A7-30C4-31F03DBA9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B5D26-7DCA-FB96-EBC9-7C6B71A097AD}"/>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A69A28CC-6B44-423A-7E88-0E74B175D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2E3F3B-2685-9F61-F1BC-A23C6DF49B8F}"/>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152308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4DCF6C-7271-F945-6288-F831954F28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389B06-A9FA-8DC0-34EA-97478AA511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16E0A-9EDB-DBC2-FCCA-B1D106503152}"/>
              </a:ext>
            </a:extLst>
          </p:cNvPr>
          <p:cNvSpPr>
            <a:spLocks noGrp="1"/>
          </p:cNvSpPr>
          <p:nvPr>
            <p:ph type="dt" sz="half" idx="10"/>
          </p:nvPr>
        </p:nvSpPr>
        <p:spPr/>
        <p:txBody>
          <a:body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F91779D5-0F90-49F5-9A87-97B54E955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97C9C-B270-5CB1-D7EA-01EC97DA2BA2}"/>
              </a:ext>
            </a:extLst>
          </p:cNvPr>
          <p:cNvSpPr>
            <a:spLocks noGrp="1"/>
          </p:cNvSpPr>
          <p:nvPr>
            <p:ph type="sldNum" sz="quarter" idx="12"/>
          </p:nvPr>
        </p:nvSpPr>
        <p:spPr/>
        <p:txBody>
          <a:bodyPr/>
          <a:lstStyle/>
          <a:p>
            <a:fld id="{5225C812-01AF-3B4D-A062-12E8AF73A84C}" type="slidenum">
              <a:rPr lang="en-US" smtClean="0"/>
              <a:t>‹#›</a:t>
            </a:fld>
            <a:endParaRPr lang="en-US"/>
          </a:p>
        </p:txBody>
      </p:sp>
    </p:spTree>
    <p:extLst>
      <p:ext uri="{BB962C8B-B14F-4D97-AF65-F5344CB8AC3E}">
        <p14:creationId xmlns:p14="http://schemas.microsoft.com/office/powerpoint/2010/main" val="2588273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47A1C2-8603-506B-672E-AB8FDAB6ED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D807F0-1A0B-26B6-514E-C76CB0028B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9703E4-FB12-2FB3-BB87-BD4AA8EBF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0BD7C9-50D4-CB45-B305-A742960CD2B7}" type="datetimeFigureOut">
              <a:rPr lang="en-US" smtClean="0"/>
              <a:t>2/6/26</a:t>
            </a:fld>
            <a:endParaRPr lang="en-US"/>
          </a:p>
        </p:txBody>
      </p:sp>
      <p:sp>
        <p:nvSpPr>
          <p:cNvPr id="5" name="Footer Placeholder 4">
            <a:extLst>
              <a:ext uri="{FF2B5EF4-FFF2-40B4-BE49-F238E27FC236}">
                <a16:creationId xmlns:a16="http://schemas.microsoft.com/office/drawing/2014/main" id="{E22D0B4E-E3E7-6874-0DC2-63C27A695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7C78E7-3CEA-917D-1D39-8F675C8DBC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25C812-01AF-3B4D-A062-12E8AF73A84C}" type="slidenum">
              <a:rPr lang="en-US" smtClean="0"/>
              <a:t>‹#›</a:t>
            </a:fld>
            <a:endParaRPr lang="en-US"/>
          </a:p>
        </p:txBody>
      </p:sp>
    </p:spTree>
    <p:extLst>
      <p:ext uri="{BB962C8B-B14F-4D97-AF65-F5344CB8AC3E}">
        <p14:creationId xmlns:p14="http://schemas.microsoft.com/office/powerpoint/2010/main" val="827570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036F21-3DAE-5DE2-3CA3-3AADD88C52F1}"/>
              </a:ext>
            </a:extLst>
          </p:cNvPr>
          <p:cNvPicPr>
            <a:picLocks noChangeAspect="1"/>
          </p:cNvPicPr>
          <p:nvPr/>
        </p:nvPicPr>
        <p:blipFill>
          <a:blip r:embed="rId2"/>
          <a:srcRect b="18344"/>
          <a:stretch>
            <a:fillRect/>
          </a:stretch>
        </p:blipFill>
        <p:spPr>
          <a:xfrm>
            <a:off x="48695" y="954625"/>
            <a:ext cx="12086459" cy="4163913"/>
          </a:xfrm>
          <a:prstGeom prst="rect">
            <a:avLst/>
          </a:prstGeom>
        </p:spPr>
      </p:pic>
      <p:sp>
        <p:nvSpPr>
          <p:cNvPr id="5" name="Rectangle 4">
            <a:extLst>
              <a:ext uri="{FF2B5EF4-FFF2-40B4-BE49-F238E27FC236}">
                <a16:creationId xmlns:a16="http://schemas.microsoft.com/office/drawing/2014/main" id="{E5D50DD6-4AF7-F266-264A-DECBA77AD7A0}"/>
              </a:ext>
            </a:extLst>
          </p:cNvPr>
          <p:cNvSpPr/>
          <p:nvPr/>
        </p:nvSpPr>
        <p:spPr>
          <a:xfrm>
            <a:off x="8334703" y="3079531"/>
            <a:ext cx="3800451" cy="33843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51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D374-95FC-C602-D241-91C1030DC389}"/>
              </a:ext>
            </a:extLst>
          </p:cNvPr>
          <p:cNvSpPr>
            <a:spLocks noGrp="1"/>
          </p:cNvSpPr>
          <p:nvPr>
            <p:ph type="title"/>
          </p:nvPr>
        </p:nvSpPr>
        <p:spPr/>
        <p:txBody>
          <a:bodyPr/>
          <a:lstStyle/>
          <a:p>
            <a:r>
              <a:rPr lang="en-US" dirty="0"/>
              <a:t>Figure 1: Environment is a poor predictor of traits</a:t>
            </a:r>
          </a:p>
        </p:txBody>
      </p:sp>
      <p:pic>
        <p:nvPicPr>
          <p:cNvPr id="3" name="Picture 2" descr="Details are in the caption following the image">
            <a:extLst>
              <a:ext uri="{FF2B5EF4-FFF2-40B4-BE49-F238E27FC236}">
                <a16:creationId xmlns:a16="http://schemas.microsoft.com/office/drawing/2014/main" id="{654AC005-1CB9-6223-389C-04928B7F5D38}"/>
              </a:ext>
            </a:extLst>
          </p:cNvPr>
          <p:cNvPicPr>
            <a:picLocks noChangeAspect="1"/>
          </p:cNvPicPr>
          <p:nvPr/>
        </p:nvPicPr>
        <p:blipFill>
          <a:blip r:embed="rId3"/>
          <a:stretch>
            <a:fillRect/>
          </a:stretch>
        </p:blipFill>
        <p:spPr>
          <a:xfrm>
            <a:off x="2209800" y="2118732"/>
            <a:ext cx="7772400" cy="4739268"/>
          </a:xfrm>
          <a:prstGeom prst="rect">
            <a:avLst/>
          </a:prstGeom>
        </p:spPr>
      </p:pic>
    </p:spTree>
    <p:extLst>
      <p:ext uri="{BB962C8B-B14F-4D97-AF65-F5344CB8AC3E}">
        <p14:creationId xmlns:p14="http://schemas.microsoft.com/office/powerpoint/2010/main" val="1885501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8AD42-1EDB-DBE3-B800-FE4050BFE756}"/>
              </a:ext>
            </a:extLst>
          </p:cNvPr>
          <p:cNvSpPr>
            <a:spLocks noGrp="1"/>
          </p:cNvSpPr>
          <p:nvPr>
            <p:ph type="title"/>
          </p:nvPr>
        </p:nvSpPr>
        <p:spPr/>
        <p:txBody>
          <a:bodyPr/>
          <a:lstStyle/>
          <a:p>
            <a:r>
              <a:rPr lang="en-US" dirty="0"/>
              <a:t>Figure 2: Scales complicate trait-environment predictions</a:t>
            </a:r>
          </a:p>
        </p:txBody>
      </p:sp>
      <p:pic>
        <p:nvPicPr>
          <p:cNvPr id="3" name="Picture 2" descr="Details are in the caption following the image">
            <a:extLst>
              <a:ext uri="{FF2B5EF4-FFF2-40B4-BE49-F238E27FC236}">
                <a16:creationId xmlns:a16="http://schemas.microsoft.com/office/drawing/2014/main" id="{1D572EA1-E23D-C446-BA39-EC132510531A}"/>
              </a:ext>
            </a:extLst>
          </p:cNvPr>
          <p:cNvPicPr>
            <a:picLocks noChangeAspect="1"/>
          </p:cNvPicPr>
          <p:nvPr/>
        </p:nvPicPr>
        <p:blipFill>
          <a:blip r:embed="rId3"/>
          <a:srcRect b="53118"/>
          <a:stretch>
            <a:fillRect/>
          </a:stretch>
        </p:blipFill>
        <p:spPr>
          <a:xfrm>
            <a:off x="900191" y="2304706"/>
            <a:ext cx="10391618" cy="3586135"/>
          </a:xfrm>
          <a:prstGeom prst="rect">
            <a:avLst/>
          </a:prstGeom>
        </p:spPr>
      </p:pic>
    </p:spTree>
    <p:extLst>
      <p:ext uri="{BB962C8B-B14F-4D97-AF65-F5344CB8AC3E}">
        <p14:creationId xmlns:p14="http://schemas.microsoft.com/office/powerpoint/2010/main" val="225437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FAF70-9696-B24D-93A5-14FFBEB5D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7C58C-8274-7573-AC1D-A8D24D58BB58}"/>
              </a:ext>
            </a:extLst>
          </p:cNvPr>
          <p:cNvSpPr>
            <a:spLocks noGrp="1"/>
          </p:cNvSpPr>
          <p:nvPr>
            <p:ph type="title"/>
          </p:nvPr>
        </p:nvSpPr>
        <p:spPr/>
        <p:txBody>
          <a:bodyPr/>
          <a:lstStyle/>
          <a:p>
            <a:r>
              <a:rPr lang="en-US" dirty="0"/>
              <a:t>Figure 2: Scales complicate trait-environment predictions</a:t>
            </a:r>
          </a:p>
        </p:txBody>
      </p:sp>
      <p:pic>
        <p:nvPicPr>
          <p:cNvPr id="3" name="Picture 2" descr="Details are in the caption following the image">
            <a:extLst>
              <a:ext uri="{FF2B5EF4-FFF2-40B4-BE49-F238E27FC236}">
                <a16:creationId xmlns:a16="http://schemas.microsoft.com/office/drawing/2014/main" id="{B543123E-4D9C-3C9A-D14B-C7046FFC0BF6}"/>
              </a:ext>
            </a:extLst>
          </p:cNvPr>
          <p:cNvPicPr>
            <a:picLocks noChangeAspect="1"/>
          </p:cNvPicPr>
          <p:nvPr/>
        </p:nvPicPr>
        <p:blipFill>
          <a:blip r:embed="rId3"/>
          <a:srcRect t="50189"/>
          <a:stretch>
            <a:fillRect/>
          </a:stretch>
        </p:blipFill>
        <p:spPr>
          <a:xfrm>
            <a:off x="1179849" y="2364828"/>
            <a:ext cx="9832301" cy="3605048"/>
          </a:xfrm>
          <a:prstGeom prst="rect">
            <a:avLst/>
          </a:prstGeom>
        </p:spPr>
      </p:pic>
    </p:spTree>
    <p:extLst>
      <p:ext uri="{BB962C8B-B14F-4D97-AF65-F5344CB8AC3E}">
        <p14:creationId xmlns:p14="http://schemas.microsoft.com/office/powerpoint/2010/main" val="2568743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06BE8F-E30E-1130-6CED-3857D6079894}"/>
              </a:ext>
            </a:extLst>
          </p:cNvPr>
          <p:cNvPicPr>
            <a:picLocks noChangeAspect="1"/>
          </p:cNvPicPr>
          <p:nvPr/>
        </p:nvPicPr>
        <p:blipFill>
          <a:blip r:embed="rId2"/>
          <a:stretch>
            <a:fillRect/>
          </a:stretch>
        </p:blipFill>
        <p:spPr>
          <a:xfrm>
            <a:off x="777766" y="234471"/>
            <a:ext cx="10562896" cy="6344866"/>
          </a:xfrm>
          <a:prstGeom prst="rect">
            <a:avLst/>
          </a:prstGeom>
        </p:spPr>
      </p:pic>
    </p:spTree>
    <p:extLst>
      <p:ext uri="{BB962C8B-B14F-4D97-AF65-F5344CB8AC3E}">
        <p14:creationId xmlns:p14="http://schemas.microsoft.com/office/powerpoint/2010/main" val="2728106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09B0A-9DBD-33B2-79B9-D883E33A8A49}"/>
              </a:ext>
            </a:extLst>
          </p:cNvPr>
          <p:cNvSpPr>
            <a:spLocks noGrp="1"/>
          </p:cNvSpPr>
          <p:nvPr>
            <p:ph type="title"/>
          </p:nvPr>
        </p:nvSpPr>
        <p:spPr/>
        <p:txBody>
          <a:bodyPr/>
          <a:lstStyle/>
          <a:p>
            <a:r>
              <a:rPr lang="en-US" dirty="0"/>
              <a:t>Troublesome traits</a:t>
            </a:r>
          </a:p>
        </p:txBody>
      </p:sp>
      <p:sp>
        <p:nvSpPr>
          <p:cNvPr id="3" name="Content Placeholder 2">
            <a:extLst>
              <a:ext uri="{FF2B5EF4-FFF2-40B4-BE49-F238E27FC236}">
                <a16:creationId xmlns:a16="http://schemas.microsoft.com/office/drawing/2014/main" id="{B5308A93-147E-44EB-BB42-6250EB6AAB98}"/>
              </a:ext>
            </a:extLst>
          </p:cNvPr>
          <p:cNvSpPr>
            <a:spLocks noGrp="1"/>
          </p:cNvSpPr>
          <p:nvPr>
            <p:ph idx="1"/>
          </p:nvPr>
        </p:nvSpPr>
        <p:spPr/>
        <p:txBody>
          <a:bodyPr/>
          <a:lstStyle/>
          <a:p>
            <a:r>
              <a:rPr lang="en-US" dirty="0"/>
              <a:t>“we poorly understand the </a:t>
            </a:r>
            <a:r>
              <a:rPr lang="en-US" dirty="0">
                <a:solidFill>
                  <a:srgbClr val="FF0000"/>
                </a:solidFill>
              </a:rPr>
              <a:t>functional significance </a:t>
            </a:r>
            <a:r>
              <a:rPr lang="en-US" dirty="0"/>
              <a:t>of traits themselves”</a:t>
            </a:r>
          </a:p>
          <a:p>
            <a:r>
              <a:rPr lang="en-US" dirty="0"/>
              <a:t>“our understanding of </a:t>
            </a:r>
            <a:r>
              <a:rPr lang="en-US" dirty="0">
                <a:solidFill>
                  <a:srgbClr val="FF0000"/>
                </a:solidFill>
              </a:rPr>
              <a:t>how plant traits…influence…performance</a:t>
            </a:r>
            <a:r>
              <a:rPr lang="en-US" dirty="0"/>
              <a:t>…is still evolving. We may be focusing on the wrong traits”</a:t>
            </a:r>
          </a:p>
          <a:p>
            <a:r>
              <a:rPr lang="en-US" dirty="0"/>
              <a:t>“There are </a:t>
            </a:r>
            <a:r>
              <a:rPr lang="en-US" dirty="0">
                <a:solidFill>
                  <a:srgbClr val="FF0000"/>
                </a:solidFill>
              </a:rPr>
              <a:t>many successful ways to be a plant </a:t>
            </a:r>
            <a:r>
              <a:rPr lang="en-US" dirty="0"/>
              <a:t>in most environments”</a:t>
            </a:r>
          </a:p>
          <a:p>
            <a:endParaRPr lang="en-US" dirty="0"/>
          </a:p>
        </p:txBody>
      </p:sp>
    </p:spTree>
    <p:extLst>
      <p:ext uri="{BB962C8B-B14F-4D97-AF65-F5344CB8AC3E}">
        <p14:creationId xmlns:p14="http://schemas.microsoft.com/office/powerpoint/2010/main" val="1946821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7AAB-CF80-B58D-22B1-DAB881F9DC75}"/>
              </a:ext>
            </a:extLst>
          </p:cNvPr>
          <p:cNvSpPr>
            <a:spLocks noGrp="1"/>
          </p:cNvSpPr>
          <p:nvPr>
            <p:ph type="title"/>
          </p:nvPr>
        </p:nvSpPr>
        <p:spPr/>
        <p:txBody>
          <a:bodyPr/>
          <a:lstStyle/>
          <a:p>
            <a:r>
              <a:rPr lang="en-US" dirty="0"/>
              <a:t>Path forward</a:t>
            </a:r>
          </a:p>
        </p:txBody>
      </p:sp>
      <p:sp>
        <p:nvSpPr>
          <p:cNvPr id="3" name="Content Placeholder 2">
            <a:extLst>
              <a:ext uri="{FF2B5EF4-FFF2-40B4-BE49-F238E27FC236}">
                <a16:creationId xmlns:a16="http://schemas.microsoft.com/office/drawing/2014/main" id="{34030871-3BA6-FEB2-E718-7B0433A407D3}"/>
              </a:ext>
            </a:extLst>
          </p:cNvPr>
          <p:cNvSpPr>
            <a:spLocks noGrp="1"/>
          </p:cNvSpPr>
          <p:nvPr>
            <p:ph idx="1"/>
          </p:nvPr>
        </p:nvSpPr>
        <p:spPr/>
        <p:txBody>
          <a:bodyPr/>
          <a:lstStyle/>
          <a:p>
            <a:r>
              <a:rPr lang="en-US" dirty="0">
                <a:solidFill>
                  <a:srgbClr val="FF0000"/>
                </a:solidFill>
              </a:rPr>
              <a:t>Hierarchical analysis </a:t>
            </a:r>
            <a:r>
              <a:rPr lang="en-US" dirty="0"/>
              <a:t>needed for mechanisms (scale matters)</a:t>
            </a:r>
          </a:p>
          <a:p>
            <a:r>
              <a:rPr lang="en-US" dirty="0"/>
              <a:t>“</a:t>
            </a:r>
            <a:r>
              <a:rPr lang="en-US" dirty="0">
                <a:solidFill>
                  <a:srgbClr val="FF0000"/>
                </a:solidFill>
              </a:rPr>
              <a:t>Function</a:t>
            </a:r>
            <a:r>
              <a:rPr lang="en-US" dirty="0"/>
              <a:t>” of functional traits needs to be better understood</a:t>
            </a:r>
          </a:p>
          <a:p>
            <a:r>
              <a:rPr lang="en-US" dirty="0"/>
              <a:t>Phenotypes are integrated</a:t>
            </a:r>
          </a:p>
          <a:p>
            <a:pPr lvl="1"/>
            <a:r>
              <a:rPr lang="en-US" dirty="0">
                <a:solidFill>
                  <a:srgbClr val="FF0000"/>
                </a:solidFill>
              </a:rPr>
              <a:t>Equifinality</a:t>
            </a:r>
          </a:p>
          <a:p>
            <a:pPr lvl="1"/>
            <a:r>
              <a:rPr lang="en-US" dirty="0"/>
              <a:t>Models needed to generate hypotheses</a:t>
            </a:r>
          </a:p>
        </p:txBody>
      </p:sp>
    </p:spTree>
    <p:extLst>
      <p:ext uri="{BB962C8B-B14F-4D97-AF65-F5344CB8AC3E}">
        <p14:creationId xmlns:p14="http://schemas.microsoft.com/office/powerpoint/2010/main" val="1662319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EC877B-1057-BA0C-7A82-1DE9E46393EA}"/>
              </a:ext>
            </a:extLst>
          </p:cNvPr>
          <p:cNvPicPr>
            <a:picLocks noChangeAspect="1"/>
          </p:cNvPicPr>
          <p:nvPr/>
        </p:nvPicPr>
        <p:blipFill>
          <a:blip r:embed="rId2"/>
          <a:stretch>
            <a:fillRect/>
          </a:stretch>
        </p:blipFill>
        <p:spPr>
          <a:xfrm>
            <a:off x="0" y="0"/>
            <a:ext cx="3873500" cy="3848100"/>
          </a:xfrm>
          <a:prstGeom prst="rect">
            <a:avLst/>
          </a:prstGeom>
        </p:spPr>
      </p:pic>
      <p:pic>
        <p:nvPicPr>
          <p:cNvPr id="3" name="Picture 2">
            <a:extLst>
              <a:ext uri="{FF2B5EF4-FFF2-40B4-BE49-F238E27FC236}">
                <a16:creationId xmlns:a16="http://schemas.microsoft.com/office/drawing/2014/main" id="{70451F76-5F89-1603-F264-426F61D22CA1}"/>
              </a:ext>
            </a:extLst>
          </p:cNvPr>
          <p:cNvPicPr>
            <a:picLocks noChangeAspect="1"/>
          </p:cNvPicPr>
          <p:nvPr/>
        </p:nvPicPr>
        <p:blipFill>
          <a:blip r:embed="rId3"/>
          <a:stretch>
            <a:fillRect/>
          </a:stretch>
        </p:blipFill>
        <p:spPr>
          <a:xfrm>
            <a:off x="3873500" y="152400"/>
            <a:ext cx="3302000" cy="3695700"/>
          </a:xfrm>
          <a:prstGeom prst="rect">
            <a:avLst/>
          </a:prstGeom>
        </p:spPr>
      </p:pic>
      <p:pic>
        <p:nvPicPr>
          <p:cNvPr id="5" name="Picture 4">
            <a:extLst>
              <a:ext uri="{FF2B5EF4-FFF2-40B4-BE49-F238E27FC236}">
                <a16:creationId xmlns:a16="http://schemas.microsoft.com/office/drawing/2014/main" id="{526CBECB-E69A-F53A-604A-AF70587A68CB}"/>
              </a:ext>
            </a:extLst>
          </p:cNvPr>
          <p:cNvPicPr>
            <a:picLocks noChangeAspect="1"/>
          </p:cNvPicPr>
          <p:nvPr/>
        </p:nvPicPr>
        <p:blipFill>
          <a:blip r:embed="rId4"/>
          <a:stretch>
            <a:fillRect/>
          </a:stretch>
        </p:blipFill>
        <p:spPr>
          <a:xfrm>
            <a:off x="7333154" y="152400"/>
            <a:ext cx="3873499" cy="3837298"/>
          </a:xfrm>
          <a:prstGeom prst="rect">
            <a:avLst/>
          </a:prstGeom>
        </p:spPr>
      </p:pic>
      <p:pic>
        <p:nvPicPr>
          <p:cNvPr id="6" name="Picture 5" descr="Details are in the caption following the image">
            <a:extLst>
              <a:ext uri="{FF2B5EF4-FFF2-40B4-BE49-F238E27FC236}">
                <a16:creationId xmlns:a16="http://schemas.microsoft.com/office/drawing/2014/main" id="{A3DF1E86-B36C-B2A4-CD91-768CBD37E116}"/>
              </a:ext>
            </a:extLst>
          </p:cNvPr>
          <p:cNvPicPr>
            <a:picLocks noChangeAspect="1"/>
          </p:cNvPicPr>
          <p:nvPr/>
        </p:nvPicPr>
        <p:blipFill>
          <a:blip r:embed="rId5"/>
          <a:srcRect l="78127" t="5263" b="53517"/>
          <a:stretch>
            <a:fillRect/>
          </a:stretch>
        </p:blipFill>
        <p:spPr>
          <a:xfrm>
            <a:off x="276334" y="3848100"/>
            <a:ext cx="2806262" cy="2897347"/>
          </a:xfrm>
          <a:prstGeom prst="rect">
            <a:avLst/>
          </a:prstGeom>
        </p:spPr>
      </p:pic>
      <p:pic>
        <p:nvPicPr>
          <p:cNvPr id="7" name="Picture 6" descr="Details are in the caption following the image">
            <a:extLst>
              <a:ext uri="{FF2B5EF4-FFF2-40B4-BE49-F238E27FC236}">
                <a16:creationId xmlns:a16="http://schemas.microsoft.com/office/drawing/2014/main" id="{49ACF062-5460-3FDD-4B50-84739A4C5998}"/>
              </a:ext>
            </a:extLst>
          </p:cNvPr>
          <p:cNvPicPr>
            <a:picLocks noChangeAspect="1"/>
          </p:cNvPicPr>
          <p:nvPr/>
        </p:nvPicPr>
        <p:blipFill>
          <a:blip r:embed="rId6"/>
          <a:srcRect l="50163"/>
          <a:stretch>
            <a:fillRect/>
          </a:stretch>
        </p:blipFill>
        <p:spPr>
          <a:xfrm>
            <a:off x="4001596" y="4000500"/>
            <a:ext cx="3173904" cy="2813562"/>
          </a:xfrm>
          <a:prstGeom prst="rect">
            <a:avLst/>
          </a:prstGeom>
        </p:spPr>
      </p:pic>
      <p:pic>
        <p:nvPicPr>
          <p:cNvPr id="8" name="Picture 7">
            <a:extLst>
              <a:ext uri="{FF2B5EF4-FFF2-40B4-BE49-F238E27FC236}">
                <a16:creationId xmlns:a16="http://schemas.microsoft.com/office/drawing/2014/main" id="{EEA4F58F-E430-E041-228A-7975F13DF0A0}"/>
              </a:ext>
            </a:extLst>
          </p:cNvPr>
          <p:cNvPicPr>
            <a:picLocks noChangeAspect="1"/>
          </p:cNvPicPr>
          <p:nvPr/>
        </p:nvPicPr>
        <p:blipFill>
          <a:blip r:embed="rId7"/>
          <a:stretch>
            <a:fillRect/>
          </a:stretch>
        </p:blipFill>
        <p:spPr>
          <a:xfrm>
            <a:off x="7609490" y="4258587"/>
            <a:ext cx="3886200" cy="2297387"/>
          </a:xfrm>
          <a:prstGeom prst="rect">
            <a:avLst/>
          </a:prstGeom>
        </p:spPr>
      </p:pic>
    </p:spTree>
    <p:extLst>
      <p:ext uri="{BB962C8B-B14F-4D97-AF65-F5344CB8AC3E}">
        <p14:creationId xmlns:p14="http://schemas.microsoft.com/office/powerpoint/2010/main" val="2587588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569</Words>
  <Application>Microsoft Macintosh PowerPoint</Application>
  <PresentationFormat>Widescreen</PresentationFormat>
  <Paragraphs>19</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Figure 1: Environment is a poor predictor of traits</vt:lpstr>
      <vt:lpstr>Figure 2: Scales complicate trait-environment predictions</vt:lpstr>
      <vt:lpstr>Figure 2: Scales complicate trait-environment predictions</vt:lpstr>
      <vt:lpstr>PowerPoint Presentation</vt:lpstr>
      <vt:lpstr>Troublesome traits</vt:lpstr>
      <vt:lpstr>Path forward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 Nick</dc:creator>
  <cp:lastModifiedBy>Smith, Nick</cp:lastModifiedBy>
  <cp:revision>9</cp:revision>
  <dcterms:created xsi:type="dcterms:W3CDTF">2026-02-06T15:37:17Z</dcterms:created>
  <dcterms:modified xsi:type="dcterms:W3CDTF">2026-02-06T16:06:32Z</dcterms:modified>
</cp:coreProperties>
</file>